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fonts/AB4A8BD9-9947-4921-B984-B7E0076DA7A8.fntdata" ContentType="application/x-fontdata"/>
  <Override PartName="/ppt/fonts/B294A9E7-AD79-4DCB-B21E-FC20BC6DCF0D.fntdata" ContentType="application/x-fontdata"/>
  <Override PartName="/ppt/fonts/31B0B60F-D054-476A-9D14-4EAD27B8E82F.fntdata" ContentType="application/x-fontdata"/>
  <Override PartName="/ppt/fonts/C532600F-89DD-4071-BF1B-658F1DD727E4.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embeddedFontLst>
    <p:embeddedFont>
      <p:font typeface="Noto Sans Georgian" pitchFamily="34" charset="0"/>
      <p:regular r:id="rId28"/>
      <p:bold r:id="rId29"/>
    </p:embeddedFont>
    <p:embeddedFont>
      <p:font typeface="Inter" pitchFamily="34" charset="0"/>
      <p:regular r:id="rId30"/>
      <p:bold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font" Target="fonts/AB4A8BD9-9947-4921-B984-B7E0076DA7A8.fntdata"/><Relationship Id="rId29" Type="http://schemas.openxmlformats.org/officeDocument/2006/relationships/font" Target="fonts/B294A9E7-AD79-4DCB-B21E-FC20BC6DCF0D.fntdata"/><Relationship Id="rId30" Type="http://schemas.openxmlformats.org/officeDocument/2006/relationships/font" Target="fonts/31B0B60F-D054-476A-9D14-4EAD27B8E82F.fntdata"/><Relationship Id="rId31" Type="http://schemas.openxmlformats.org/officeDocument/2006/relationships/font" Target="fonts/C532600F-89DD-4071-BF1B-658F1DD727E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0:00.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სლაიდი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ჩართული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დახვედრებამდე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დღეს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შეჯიბრის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ამბავს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გავყვებით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აღმოვაჩენთ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სახელმძღვანელო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ღიაა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0:20–1:20.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მოკლედ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წაუკითხეთ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ბარათი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ახსნათ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მხოლოდ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დღის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რუკაა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სახელმძღვანელოს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რომელი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გვერდია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ღია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1:20–3:00.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წაიკითხეთ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56-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პირობა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20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წყვილში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უთხრათ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მოუსმინეთ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იწყებს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შეკრებით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პირდაპირ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ამბობს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5·6-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ერევა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5+6-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წინასწარი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შეფასება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3:00–5:00.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წერს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ჯამს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მეორე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5·6-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ხაზი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გაუსვით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გზით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30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გამოდის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რჩება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5·6=30.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ვინმე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წერს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5+6-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დაუბრუნეთ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ჯამს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ხუთჯერ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ემატება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ერთხელ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5:00–6:00.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კითხულობს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სიტყვას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კლასი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იმეორებს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5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მამრავლია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30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სიტყვა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დღეს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სხვაგან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აღარ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აირიოს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6:00–10:00.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ჰკითხეთ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6·5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30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იქნება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?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დაეთვალონ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გაცვალოს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მამრავლებიც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ასე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რჩება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კლასმა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თვითონ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დაასრულოს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წინადადება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გაცვლა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ტერმინი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ახლა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a·b=b·a.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შემოწმება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7·8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8·7.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56-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სახელმძღვანელოს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ცხრილში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პირველი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სტრიქონია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10:00–12:00.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ჰკითხეთ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7·1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ნიშნავს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?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შვიდი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8·1-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ზეც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კლასმა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წესი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დაარქვით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a·1=a.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სახელმძღვანელოში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მარჯვნივ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ცარიელია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8·1=...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შეავსონ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ხმამაღლა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12:00–14:00.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ჰკითხეთ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7·0.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ვინმე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იტყვის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7-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დაუბრუნეთ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განმეორებით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შეკრებას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შვიდჯერ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მაინც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9·0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4·0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სახელმძღვანელოს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ცარიელი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ადგილებია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შეავსონ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განზოგადება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0·a=0,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რიცხვიც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უნდა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იყოს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წინადადება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დარჩეს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14:00–18:00.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ითვლის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(3·4)·5-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მეორე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3·(4·5)-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იღებს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60-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კითხვა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შეიცვალა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?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ფრჩხილი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შეიცვალა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?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ტერმინი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(a·b)·c=a·(b·c).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წიგნში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სიტყვას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„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ჯუფთებადობას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“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ხედავენ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ჩვენ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ვამბობთ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სურვილისამებრ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(8·5)·2=40·2=80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8·(5·2)=8·10=80.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18:00–23:00.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აქ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შედარებით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დიდხანს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ვჩერდებით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კლასი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ნაწილად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ნახევარი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ფრჩხილს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სთვლის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(9+4=13, 5·13),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მეორე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ცალ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ცალკე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(5·9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5·4).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შედეგები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ერთად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ჩნდება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65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65.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კითხვა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რატომ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დაემთხვა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?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იჩქარებთ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ფორმულაზე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თვითონ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დაინახონ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23:00–25:00.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რვეულში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ჩაიწერება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ხაზი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a(b+c)=ab+ac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a(b−c)=ab−ac.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მარჯვენა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ფორმა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(b+c)a=ba+ca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გადანაცვლებადობითაც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მოწმდება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ba+ca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ab+ac-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შესაკრებზე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მაგალითი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შემდეგ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სლაიდზეა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ოთხივე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ხაზი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დარჩეს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25:00–28:00. 6·(2+3+5):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წერს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6·10-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მეორე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შესაკრებს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60-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9a+7a.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პირველებმა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კლასმა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16a.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ოქროს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უჯრა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4a+5a.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9a.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ჩაწერეთ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შემდეგ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იტყვიან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გამოკლების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რიცხვითი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შემოწმება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დროა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5·(9−4)=5·5=25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5·9−5·4=45−20=25.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28:00–30:30.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სიტყვიერად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დაწეროს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ხაზი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გაუსვით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8a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8·a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ასო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აქ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დგას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მისი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მნიშვნელობა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ვიცით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7(a+c)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გახსნათ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ვარჯიშის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-5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კითხვაა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30:30–33:00.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სვეტი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გააკეთეთ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გაარჩია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=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გამოსახულებაა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;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=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წერია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ტოლობაა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;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&gt;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&lt;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უტოლობაა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მეორე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რიგი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9a+7a, 9a+7a=16a, 16a&gt;10a.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მხარდაჭერა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მიეცით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მინიშნება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ბარათზე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მისცემთ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მზა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33:00–34:30.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სწრაფი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ზეპირი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თამაში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ხუთი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თითო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სტრიქონი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სწორი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სახელები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შემდეგ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სლაიდზეა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დრო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გვწირავს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სლაიდი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გამოტოვეთ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პირდაპირ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57-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გადადით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პასუხები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1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2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3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4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5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34:30–35:00.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მოკლედ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შეადარეთ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აურია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შეაჩერეთ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ფრჩხილში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ნამრავლია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ფრჩხილში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სხვაობაა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35:00–38:30.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წყვილში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მიზეზი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ნომერი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მოუსმინეთ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წყვილს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მხარდაჭერის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ჯგუფს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მიეცით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№1, №2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№4,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მინიშნებით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/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ხუთი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ერთნაირი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შესაკრები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გაღრმავება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ვინც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ადრე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დაამთავრებს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თავისი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გამოსახულება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ტოლობა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უტოლობა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4(a+c+2).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ტიპური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შეცდომა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№5-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7a+c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7a+7.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დაუხატეთ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რკალი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7-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სკენ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c-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სკენ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38:30–39:00.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მიზეზი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წაიკითხეთ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ხმამაღლა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მხოლოდ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ნომერი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№3: 8·7=56,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8+7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87.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№5: 7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მრავლდება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ორივე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შესაკრებზე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39:00–39:40.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სამმა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თქვას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თითო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წინადადება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დრო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რჩება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ამოსუნთქვისთვის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დაამატეთ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ფრჩხილის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გადატანა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a(b+c)=ab+ac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დარჩეს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a·b=b·a,  0·a=0,  a·1=a,  (a·b)·c=a·(b·c),  a(b+c)=ab+ac.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39:40–40:00.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ჩამოუყალიბეთ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საშინაო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ზუსტად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ასე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მაგალითი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გადააკეთებინოთ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უცვლელად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საკუთარი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ჩანაწერიც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შეიძლება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ნიმუში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არის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ხვალ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პირველ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წუთებში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წინადადებას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დავუბრუნდებით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საშინაოს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მიზეზებს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მოვუსმენთ</a:t>
            </a:r>
            <a:r>
              <a:rPr sz="14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E25B45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E3A008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5120640"/>
            <a:ext cx="2011680" cy="2011680"/>
          </a:xfrm>
          <a:prstGeom prst="ellipse">
            <a:avLst/>
          </a:prstGeom>
          <a:solidFill>
            <a:srgbClr val="0E7C6B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144000" cy="329184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მათემატიკა</a:t>
            </a:r>
            <a:r>
              <a:rPr sz="1600" b="1">
                <a:solidFill>
                  <a:srgbClr val="E3A008"/>
                </a:solidFill>
                <a:latin typeface="Inter"/>
                <a:ea typeface="Inter"/>
                <a:cs typeface="Inter"/>
              </a:rPr>
              <a:t>    ·    V </a:t>
            </a:r>
            <a:r>
              <a:rPr sz="16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კლასი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25880"/>
            <a:ext cx="10972800" cy="1554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ნატურალური</a:t>
            </a:r>
            <a:r>
              <a:rPr sz="4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4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რიცხვების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2800" b="1">
                <a:solidFill>
                  <a:srgbClr val="F6D48A"/>
                </a:solidFill>
                <a:latin typeface="Inter"/>
                <a:ea typeface="Inter"/>
                <a:cs typeface="Inter"/>
              </a:rPr>
              <a:t> </a:t>
            </a:r>
            <a:r>
              <a:rPr sz="2800" b="1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69080"/>
            <a:ext cx="3246120" cy="530352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246120" cy="53035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4069080"/>
            <a:ext cx="3063240" cy="530352"/>
          </a:xfrm>
          <a:prstGeom prst="roundRect">
            <a:avLst>
              <a:gd name="adj" fmla="val 50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4069080"/>
            <a:ext cx="3063240" cy="53035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069080"/>
            <a:ext cx="3063240" cy="530352"/>
          </a:xfrm>
          <a:prstGeom prst="roundRect">
            <a:avLst>
              <a:gd name="adj" fmla="val 50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4069080"/>
            <a:ext cx="3063240" cy="530352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41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961888"/>
            <a:ext cx="6583680" cy="713232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7E1D6"/>
                </a:solidFill>
                <a:latin typeface="Noto Sans Georgian"/>
                <a:ea typeface="Noto Sans Georgian"/>
                <a:cs typeface="Noto Sans Georgian"/>
              </a:rPr>
              <a:t>სახელმძღვანელო</a:t>
            </a:r>
            <a:r>
              <a:rPr sz="1500" b="0">
                <a:solidFill>
                  <a:srgbClr val="E7E1D6"/>
                </a:solidFill>
                <a:latin typeface="Inter"/>
                <a:ea typeface="Inter"/>
                <a:cs typeface="Inter"/>
              </a:rPr>
              <a:t>, </a:t>
            </a:r>
            <a:r>
              <a:rPr sz="1500" b="0">
                <a:solidFill>
                  <a:srgbClr val="E7E1D6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500" b="0">
                <a:solidFill>
                  <a:srgbClr val="E7E1D6"/>
                </a:solidFill>
                <a:latin typeface="Inter"/>
                <a:ea typeface="Inter"/>
                <a:cs typeface="Inter"/>
              </a:rPr>
              <a:t>. 56–57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E7E1D6"/>
                </a:solidFill>
                <a:latin typeface="Inter"/>
                <a:ea typeface="Inter"/>
                <a:cs typeface="Inter"/>
              </a:rPr>
              <a:t>40 </a:t>
            </a:r>
            <a:r>
              <a:rPr sz="1500" b="0">
                <a:solidFill>
                  <a:srgbClr val="E7E1D6"/>
                </a:solidFill>
                <a:latin typeface="Noto Sans Georgian"/>
                <a:ea typeface="Noto Sans Georgian"/>
                <a:cs typeface="Noto Sans Georgian"/>
              </a:rPr>
              <a:t>წუთი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989320"/>
            <a:ext cx="4937760" cy="658368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მასწავლებელი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ბექა</a:t>
            </a:r>
            <a:r>
              <a:rPr sz="1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თევდორაშვილი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შესავალი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დღეს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რამეს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ვისწავლით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2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28016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80160"/>
            <a:ext cx="3611880" cy="109728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" y="1554480"/>
            <a:ext cx="31089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057400"/>
            <a:ext cx="31546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მოკლე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შეკრებაა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" y="3246120"/>
            <a:ext cx="3154680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6 + 6 + 6 + 6 + 6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იგივეა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,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რაც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5 ·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28016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8808" y="1280160"/>
            <a:ext cx="3611880" cy="109728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554480"/>
            <a:ext cx="31089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057400"/>
            <a:ext cx="31546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შემთხვევა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246120"/>
            <a:ext cx="3154680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ნული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280160"/>
            <a:ext cx="3611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1280160"/>
            <a:ext cx="3611880" cy="109728"/>
          </a:xfrm>
          <a:prstGeom prst="rect">
            <a:avLst/>
          </a:prstGeom>
          <a:solidFill>
            <a:srgbClr val="53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554480"/>
            <a:ext cx="31089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5346A0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057400"/>
            <a:ext cx="3154680" cy="10515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სახის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3246120"/>
            <a:ext cx="3154680" cy="1874519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გამოსახულება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ტოლობა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უტოლობა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შესავალი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შეჯიბრი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იწყება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3   / 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მათემატიკურ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შეჯიბრში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5 </a:t>
            </a: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მონაწილეობს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თითოეულ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გუნდში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6 </a:t>
            </a:r>
            <a:r>
              <a:rPr sz="22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მოსწავლეა</a:t>
            </a:r>
            <a:r>
              <a:rPr sz="22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48840"/>
            <a:ext cx="214884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48840"/>
            <a:ext cx="2148840" cy="457200"/>
          </a:xfrm>
          <a:prstGeom prst="rect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4884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1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 I</a:t>
            </a:r>
          </a:p>
        </p:txBody>
      </p:sp>
      <p:sp>
        <p:nvSpPr>
          <p:cNvPr id="12" name="Oval 11"/>
          <p:cNvSpPr/>
          <p:nvPr/>
        </p:nvSpPr>
        <p:spPr>
          <a:xfrm>
            <a:off x="1069848" y="2788920"/>
            <a:ext cx="822960" cy="822960"/>
          </a:xfrm>
          <a:prstGeom prst="ellipse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78892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03320"/>
            <a:ext cx="214884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148840"/>
            <a:ext cx="214884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148840"/>
            <a:ext cx="2148840" cy="457200"/>
          </a:xfrm>
          <a:prstGeom prst="rect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14884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1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 II</a:t>
            </a:r>
          </a:p>
        </p:txBody>
      </p:sp>
      <p:sp>
        <p:nvSpPr>
          <p:cNvPr id="18" name="Oval 17"/>
          <p:cNvSpPr/>
          <p:nvPr/>
        </p:nvSpPr>
        <p:spPr>
          <a:xfrm>
            <a:off x="3401568" y="2788920"/>
            <a:ext cx="822960" cy="822960"/>
          </a:xfrm>
          <a:prstGeom prst="ellipse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278892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03320"/>
            <a:ext cx="214884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148840"/>
            <a:ext cx="214884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148840"/>
            <a:ext cx="2148840" cy="457200"/>
          </a:xfrm>
          <a:prstGeom prst="rect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14884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1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 III</a:t>
            </a:r>
          </a:p>
        </p:txBody>
      </p:sp>
      <p:sp>
        <p:nvSpPr>
          <p:cNvPr id="24" name="Oval 23"/>
          <p:cNvSpPr/>
          <p:nvPr/>
        </p:nvSpPr>
        <p:spPr>
          <a:xfrm>
            <a:off x="5733288" y="2788920"/>
            <a:ext cx="822960" cy="822960"/>
          </a:xfrm>
          <a:prstGeom prst="ellipse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33288" y="278892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3703320"/>
            <a:ext cx="214884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2148840"/>
            <a:ext cx="214884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0" y="2148840"/>
            <a:ext cx="2148840" cy="457200"/>
          </a:xfrm>
          <a:prstGeom prst="rect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214884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1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 IV</a:t>
            </a:r>
          </a:p>
        </p:txBody>
      </p:sp>
      <p:sp>
        <p:nvSpPr>
          <p:cNvPr id="30" name="Oval 29"/>
          <p:cNvSpPr/>
          <p:nvPr/>
        </p:nvSpPr>
        <p:spPr>
          <a:xfrm>
            <a:off x="8065008" y="2788920"/>
            <a:ext cx="822960" cy="822960"/>
          </a:xfrm>
          <a:prstGeom prst="ellipse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278892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703320"/>
            <a:ext cx="214884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59" y="2148840"/>
            <a:ext cx="214884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38359" y="2148840"/>
            <a:ext cx="2148840" cy="457200"/>
          </a:xfrm>
          <a:prstGeom prst="rect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148840"/>
            <a:ext cx="214884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14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 V</a:t>
            </a:r>
          </a:p>
        </p:txBody>
      </p:sp>
      <p:sp>
        <p:nvSpPr>
          <p:cNvPr id="36" name="Oval 35"/>
          <p:cNvSpPr/>
          <p:nvPr/>
        </p:nvSpPr>
        <p:spPr>
          <a:xfrm>
            <a:off x="10396728" y="2788920"/>
            <a:ext cx="822960" cy="822960"/>
          </a:xfrm>
          <a:prstGeom prst="ellipse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96728" y="278892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59" y="3703320"/>
            <a:ext cx="214884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4709160"/>
            <a:ext cx="11338560" cy="1554480"/>
          </a:xfrm>
          <a:prstGeom prst="roundRect">
            <a:avLst>
              <a:gd name="adj" fmla="val 8000"/>
            </a:avLst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84632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რამდენი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მოსწავლე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მონაწილეობს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შეჯიბრში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600" b="0">
                <a:solidFill>
                  <a:srgbClr val="F6D48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იფიქრე</a:t>
            </a:r>
            <a:r>
              <a:rPr sz="1600" b="0">
                <a:solidFill>
                  <a:srgbClr val="F6D48A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1600" b="0">
                <a:solidFill>
                  <a:srgbClr val="F6D48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1600" b="0">
                <a:solidFill>
                  <a:srgbClr val="F6D48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არსებობს</a:t>
            </a:r>
            <a:r>
              <a:rPr sz="1600" b="0">
                <a:solidFill>
                  <a:srgbClr val="F6D48A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შესავალი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4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34924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34440"/>
            <a:ext cx="109728" cy="379476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16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 I    ·    </a:t>
            </a:r>
            <a:r>
              <a:rPr sz="16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შეკრება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4754880" cy="13716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6 + 6 + 6 + 6 + 6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475488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= 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234440"/>
            <a:ext cx="534924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1234440"/>
            <a:ext cx="109728" cy="3794760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371600"/>
            <a:ext cx="47548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16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 II    ·    </a:t>
            </a:r>
            <a:r>
              <a:rPr sz="16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965960"/>
            <a:ext cx="4754880" cy="13716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  · 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429000"/>
            <a:ext cx="475488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=  30</a:t>
            </a:r>
          </a:p>
        </p:txBody>
      </p:sp>
      <p:sp>
        <p:nvSpPr>
          <p:cNvPr id="18" name="Oval 17"/>
          <p:cNvSpPr/>
          <p:nvPr/>
        </p:nvSpPr>
        <p:spPr>
          <a:xfrm>
            <a:off x="5687568" y="2606040"/>
            <a:ext cx="822960" cy="822960"/>
          </a:xfrm>
          <a:prstGeom prst="ellipse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260604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2744"/>
                </a:solidFill>
                <a:latin typeface="Inter"/>
                <a:ea typeface="Inter"/>
                <a:cs typeface="Inter"/>
              </a:rPr>
              <a:t>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212080"/>
            <a:ext cx="11411712" cy="1051560"/>
          </a:xfrm>
          <a:prstGeom prst="roundRect">
            <a:avLst>
              <a:gd name="adj" fmla="val 8000"/>
            </a:avLst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12080"/>
            <a:ext cx="1110996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განმეორებითი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შეკრებაა</a:t>
            </a:r>
            <a:r>
              <a:rPr sz="2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შესავალი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სიტყვა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5   / 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დაფაზე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რჩება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ტოლობა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დაარქვით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სახელები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874519"/>
            <a:ext cx="20116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01168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მამრავლი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11680"/>
            <a:ext cx="640080" cy="1645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874519"/>
            <a:ext cx="201168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011680"/>
            <a:ext cx="201168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023360"/>
            <a:ext cx="201168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მამრავლი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731520" cy="1645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874519"/>
            <a:ext cx="237744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011680"/>
            <a:ext cx="237744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E3A008"/>
                </a:solidFill>
                <a:latin typeface="Inter"/>
                <a:ea typeface="Inter"/>
                <a:cs typeface="Inter"/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023360"/>
            <a:ext cx="2377440" cy="5029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ნამრავლი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FF8E8"/>
          </a:solidFill>
          <a:ln w="15875">
            <a:solidFill>
              <a:srgbClr val="F0D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029200"/>
            <a:ext cx="107899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შენი</a:t>
            </a:r>
            <a:r>
              <a:rPr sz="14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ჯერია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ერთმა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მოსწავლემ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ხმამაღლა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წაიკითხოს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: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მამრავლი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მამრავლი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ნამრავლი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6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3017520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4846320" cy="214884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83080"/>
            <a:ext cx="4846320" cy="13258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6  ·  5  = 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08960"/>
            <a:ext cx="48463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600" b="0">
                <a:solidFill>
                  <a:srgbClr val="8A5A00"/>
                </a:solidFill>
                <a:latin typeface="Inter"/>
                <a:ea typeface="Inter"/>
                <a:cs typeface="Inter"/>
              </a:rPr>
              <a:t> 6, </a:t>
            </a:r>
            <a:r>
              <a:rPr sz="1600" b="0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600" b="0">
                <a:solidFill>
                  <a:srgbClr val="8A5A00"/>
                </a:solidFill>
                <a:latin typeface="Inter"/>
                <a:ea typeface="Inter"/>
                <a:cs typeface="Inter"/>
              </a:rPr>
              <a:t>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691640"/>
            <a:ext cx="4846320" cy="2148840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783080"/>
            <a:ext cx="4846320" cy="13258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  ·  6  = 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108960"/>
            <a:ext cx="48463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600" b="0">
                <a:solidFill>
                  <a:srgbClr val="8A5A00"/>
                </a:solidFill>
                <a:latin typeface="Inter"/>
                <a:ea typeface="Inter"/>
                <a:cs typeface="Inter"/>
              </a:rPr>
              <a:t> 5, </a:t>
            </a:r>
            <a:r>
              <a:rPr sz="1600" b="0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600" b="0">
                <a:solidFill>
                  <a:srgbClr val="8A5A00"/>
                </a:solidFill>
                <a:latin typeface="Inter"/>
                <a:ea typeface="Inter"/>
                <a:cs typeface="Inter"/>
              </a:rPr>
              <a:t> 6</a:t>
            </a:r>
          </a:p>
        </p:txBody>
      </p:sp>
      <p:sp>
        <p:nvSpPr>
          <p:cNvPr id="16" name="Oval 15"/>
          <p:cNvSpPr/>
          <p:nvPr/>
        </p:nvSpPr>
        <p:spPr>
          <a:xfrm>
            <a:off x="5623560" y="2240280"/>
            <a:ext cx="960120" cy="960120"/>
          </a:xfrm>
          <a:prstGeom prst="ellipse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240280"/>
            <a:ext cx="96012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2744"/>
                </a:solidFill>
                <a:latin typeface="Inter"/>
                <a:ea typeface="Inter"/>
                <a:cs typeface="Inter"/>
              </a:rPr>
              <a:t>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124712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მამრავლების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ადგილის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გაცვლა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663440"/>
            <a:ext cx="5760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73168"/>
            <a:ext cx="53949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მოკლე</a:t>
            </a:r>
            <a:r>
              <a:rPr sz="1300" b="1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300" b="1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20640"/>
            <a:ext cx="5394960" cy="8686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a  ·  b   =   b  ·  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66344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773168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სცადე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166360"/>
            <a:ext cx="502920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7 · 8   =   8 · 7   =   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ერთის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7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2286000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ერთის</a:t>
            </a:r>
            <a:r>
              <a:rPr sz="14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737360"/>
            <a:ext cx="5532120" cy="246888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257800" cy="1554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7  ·  1  = 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52578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შვიდი</a:t>
            </a:r>
            <a:r>
              <a:rPr sz="1600" b="0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ერთჯერ</a:t>
            </a:r>
            <a:r>
              <a:rPr sz="1600" b="0">
                <a:solidFill>
                  <a:srgbClr val="C2412D"/>
                </a:solidFill>
                <a:latin typeface="Inter"/>
                <a:ea typeface="Inter"/>
                <a:cs typeface="Inter"/>
              </a:rPr>
              <a:t> — </a:t>
            </a:r>
            <a:r>
              <a:rPr sz="1600" b="0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შვიდია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532120" cy="246888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257800" cy="1554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  ·  1  = 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429000"/>
            <a:ext cx="525780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რვა</a:t>
            </a:r>
            <a:r>
              <a:rPr sz="1600" b="0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ერთჯერ</a:t>
            </a:r>
            <a:r>
              <a:rPr sz="1600" b="0">
                <a:solidFill>
                  <a:srgbClr val="C2412D"/>
                </a:solidFill>
                <a:latin typeface="Inter"/>
                <a:ea typeface="Inter"/>
                <a:cs typeface="Inter"/>
              </a:rPr>
              <a:t> — </a:t>
            </a:r>
            <a:r>
              <a:rPr sz="1600" b="0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რვაა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434840"/>
            <a:ext cx="1133856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7772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a  ·  1  = 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10972800" cy="5943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ერთზე</a:t>
            </a: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რიცხვს</a:t>
            </a: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74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8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1556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15568"/>
            <a:ext cx="2377440" cy="384048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14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28800"/>
            <a:ext cx="361188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7  · 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26080"/>
            <a:ext cx="361188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=  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69164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828800"/>
            <a:ext cx="361188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9  · 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926080"/>
            <a:ext cx="361188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=  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91640"/>
            <a:ext cx="3611880" cy="1965960"/>
          </a:xfrm>
          <a:prstGeom prst="roundRect">
            <a:avLst>
              <a:gd name="adj" fmla="val 10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828800"/>
            <a:ext cx="361188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4  ·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926080"/>
            <a:ext cx="361188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=  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86200"/>
            <a:ext cx="6858000" cy="2331720"/>
          </a:xfrm>
          <a:prstGeom prst="roundRect">
            <a:avLst>
              <a:gd name="adj" fmla="val 10000"/>
            </a:avLst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644652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მოკლე</a:t>
            </a:r>
            <a:r>
              <a:rPr sz="1400" b="1">
                <a:solidFill>
                  <a:srgbClr val="F6D48A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F6D48A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644652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  ·  a  = 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6446520" cy="5486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5DCEC"/>
                </a:solidFill>
                <a:latin typeface="Noto Sans Georgian"/>
                <a:ea typeface="Noto Sans Georgian"/>
                <a:cs typeface="Noto Sans Georgian"/>
              </a:rPr>
              <a:t>რა</a:t>
            </a:r>
            <a:r>
              <a:rPr sz="1600" b="0">
                <a:solidFill>
                  <a:srgbClr val="D5DCEC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D5DCEC"/>
                </a:solidFill>
                <a:latin typeface="Noto Sans Georgian"/>
                <a:ea typeface="Noto Sans Georgian"/>
                <a:cs typeface="Noto Sans Georgian"/>
              </a:rPr>
              <a:t>რიცხვიც</a:t>
            </a:r>
            <a:r>
              <a:rPr sz="1600" b="0">
                <a:solidFill>
                  <a:srgbClr val="D5DCEC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D5DCEC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600" b="0">
                <a:solidFill>
                  <a:srgbClr val="D5DCEC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D5DCEC"/>
                </a:solidFill>
                <a:latin typeface="Noto Sans Georgian"/>
                <a:ea typeface="Noto Sans Georgian"/>
                <a:cs typeface="Noto Sans Georgian"/>
              </a:rPr>
              <a:t>უნდა</a:t>
            </a:r>
            <a:r>
              <a:rPr sz="1600" b="0">
                <a:solidFill>
                  <a:srgbClr val="D5DCEC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D5DCEC"/>
                </a:solidFill>
                <a:latin typeface="Noto Sans Georgian"/>
                <a:ea typeface="Noto Sans Georgian"/>
                <a:cs typeface="Noto Sans Georgian"/>
              </a:rPr>
              <a:t>იყოს</a:t>
            </a:r>
            <a:r>
              <a:rPr sz="1600" b="0">
                <a:solidFill>
                  <a:srgbClr val="D5DCEC"/>
                </a:solidFill>
                <a:latin typeface="Inter"/>
                <a:ea typeface="Inter"/>
                <a:cs typeface="Inter"/>
              </a:rPr>
              <a:t>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3886200"/>
            <a:ext cx="42976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069080"/>
            <a:ext cx="3931920" cy="1965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ნულზე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ყოველთვის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ნულს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იძლევა</a:t>
            </a: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3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346A0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9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27632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51663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ფრჩხილი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16636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(3 · 4) · 5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=  12 · 5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=  60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27632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3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51663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ან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ფრჩხილი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5166360" cy="21031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3 · (4 · 5)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=  3 · 20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=  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17720"/>
            <a:ext cx="11338560" cy="4572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ფრჩხილის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გადატანა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2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166360"/>
            <a:ext cx="67665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6492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(a · b) · c   =   a · (b · 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166360"/>
            <a:ext cx="4389120" cy="1097280"/>
          </a:xfrm>
          <a:prstGeom prst="roundRect">
            <a:avLst>
              <a:gd name="adj" fmla="val 8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5257800"/>
            <a:ext cx="4206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სცადე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(8 · 5) · 2  =  80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10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2468880" cy="365760"/>
          </a:xfrm>
          <a:prstGeom prst="rect">
            <a:avLst/>
          </a:prstGeom>
          <a:noFill/>
        </p:spPr>
        <p:txBody>
          <a:bodyPr wrap="square" lIns="54864" rIns="54864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11338560" cy="7772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თითო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გუნდი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იღებს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9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ქულას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კიდევ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4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ქულას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5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გუნდს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სულ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რამდენი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ქულა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აქვს</a:t>
            </a:r>
            <a:r>
              <a:rPr sz="20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468880"/>
            <a:ext cx="11338560" cy="1234440"/>
          </a:xfrm>
          <a:prstGeom prst="roundRect">
            <a:avLst>
              <a:gd name="adj" fmla="val 8000"/>
            </a:avLst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468880"/>
            <a:ext cx="11338560" cy="12344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  ·  (9 + 4)   =  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88620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51663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15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I    ·    </a:t>
            </a:r>
            <a:r>
              <a:rPr sz="15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5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ფრჩხილში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5166360" cy="14630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 · 13  =  65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7784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2336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გზა</a:t>
            </a:r>
            <a:r>
              <a:rPr sz="15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II    ·    </a:t>
            </a:r>
            <a:r>
              <a:rPr sz="15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ცალ</a:t>
            </a:r>
            <a:r>
              <a:rPr sz="15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-</a:t>
            </a:r>
            <a:r>
              <a:rPr sz="15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ცალკე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434840"/>
            <a:ext cx="5212080" cy="1554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5·9 + 5·4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= 45 + 20 =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მოკლე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11   / 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33856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ოთხნაირად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იწერება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აზრი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ერთია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45920"/>
            <a:ext cx="5669280" cy="2057400"/>
          </a:xfrm>
          <a:prstGeom prst="roundRect">
            <a:avLst>
              <a:gd name="adj" fmla="val 10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21208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ჯამზე</a:t>
            </a:r>
            <a:r>
              <a:rPr sz="16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მარცხნიდან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53035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a(b + c)  =  ab + 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45920"/>
            <a:ext cx="5669280" cy="2057400"/>
          </a:xfrm>
          <a:prstGeom prst="roundRect">
            <a:avLst>
              <a:gd name="adj" fmla="val 10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521208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ჯამზე</a:t>
            </a:r>
            <a:r>
              <a:rPr sz="16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მარჯვნიდან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53035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(b + c)a  =  ba + 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86200"/>
            <a:ext cx="5669280" cy="2057400"/>
          </a:xfrm>
          <a:prstGeom prst="roundRect">
            <a:avLst>
              <a:gd name="adj" fmla="val 10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521208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16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შესაკრებზე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53035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a(b + c + d)  =  ab + ac + 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886200"/>
            <a:ext cx="5669280" cy="20574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80"/>
            <a:ext cx="5212080" cy="41148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გამოკლებაზე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530352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a(b − c)  =  ab − 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შესაკრები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ერთნაირი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ასოები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12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43000"/>
            <a:ext cx="11430000" cy="233172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109728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შესაკრები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109728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6 · (2 + 3 + 5)  =  6·2 + 6·3 + 6·5  =  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იგივეა</a:t>
            </a:r>
            <a:r>
              <a:rPr sz="18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, </a:t>
            </a:r>
            <a:r>
              <a:rPr sz="18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რაც</a:t>
            </a:r>
            <a:r>
              <a:rPr sz="18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 6 · 10  = 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657600"/>
            <a:ext cx="74523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794760"/>
            <a:ext cx="704088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ერთნაირი</a:t>
            </a:r>
            <a:r>
              <a:rPr sz="14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ასოები</a:t>
            </a:r>
            <a:r>
              <a:rPr sz="14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ერთდება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7040880" cy="8229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9a + 7a  =  (9 + 7)a  =  16a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120640"/>
            <a:ext cx="7040880" cy="8229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9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ცალი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a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7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ცალი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a —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სულ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16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ცალი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3657600"/>
            <a:ext cx="3794760" cy="2560320"/>
          </a:xfrm>
          <a:prstGeom prst="roundRect">
            <a:avLst>
              <a:gd name="adj" fmla="val 10000"/>
            </a:avLst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3840480"/>
            <a:ext cx="342900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744"/>
                </a:solidFill>
                <a:latin typeface="Noto Sans Georgian"/>
                <a:ea typeface="Noto Sans Georgian"/>
                <a:cs typeface="Noto Sans Georgian"/>
              </a:rPr>
              <a:t>შენი</a:t>
            </a:r>
            <a:r>
              <a:rPr sz="1400" b="1">
                <a:solidFill>
                  <a:srgbClr val="1B2744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1B2744"/>
                </a:solidFill>
                <a:latin typeface="Noto Sans Georgian"/>
                <a:ea typeface="Noto Sans Georgian"/>
                <a:cs typeface="Noto Sans Georgian"/>
              </a:rPr>
              <a:t>ჯერია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297680"/>
            <a:ext cx="3429000" cy="10972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B2744"/>
                </a:solidFill>
                <a:latin typeface="Inter"/>
                <a:ea typeface="Inter"/>
                <a:cs typeface="Inter"/>
              </a:rPr>
              <a:t>4a + 5a  = 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5486400"/>
            <a:ext cx="3429000" cy="50292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744"/>
                </a:solidFill>
                <a:latin typeface="Noto Sans Georgian"/>
                <a:ea typeface="Noto Sans Georgian"/>
                <a:cs typeface="Noto Sans Georgian"/>
              </a:rPr>
              <a:t>თქვი</a:t>
            </a:r>
            <a:r>
              <a:rPr sz="1400" b="0">
                <a:solidFill>
                  <a:srgbClr val="1B2744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0">
                <a:solidFill>
                  <a:srgbClr val="1B2744"/>
                </a:solidFill>
                <a:latin typeface="Noto Sans Georgian"/>
                <a:ea typeface="Noto Sans Georgian"/>
                <a:cs typeface="Noto Sans Georgian"/>
              </a:rPr>
              <a:t>ხმამაღლა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3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346A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ასო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რიცხვის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ადგილას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დგას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13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11338560" cy="566928"/>
          </a:xfrm>
          <a:prstGeom prst="roundRect">
            <a:avLst>
              <a:gd name="adj" fmla="val 6000"/>
            </a:avLst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70432"/>
            <a:ext cx="667512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სიტყვით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170432"/>
            <a:ext cx="411480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მოკლედ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74519"/>
            <a:ext cx="11338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6583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a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გამრავლებული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8-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ზე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19"/>
            <a:ext cx="411480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5346A0"/>
                </a:solidFill>
                <a:latin typeface="Inter"/>
                <a:ea typeface="Inter"/>
                <a:cs typeface="Inter"/>
              </a:rPr>
              <a:t>8a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926079"/>
            <a:ext cx="11338560" cy="96012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79"/>
            <a:ext cx="6583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იგივე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რაც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8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გამრავლებული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a-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ზე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926079"/>
            <a:ext cx="411480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5346A0"/>
                </a:solidFill>
                <a:latin typeface="Inter"/>
                <a:ea typeface="Inter"/>
                <a:cs typeface="Inter"/>
              </a:rPr>
              <a:t>8 · 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977639"/>
            <a:ext cx="1133856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6583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7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გამრავლებული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a-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c-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ჯამზე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977639"/>
            <a:ext cx="411480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5346A0"/>
                </a:solidFill>
                <a:latin typeface="Inter"/>
                <a:ea typeface="Inter"/>
                <a:cs typeface="Inter"/>
              </a:rPr>
              <a:t>7(a + 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029200"/>
            <a:ext cx="11338560" cy="96012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658368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9a-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7a-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800" b="0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ჯამი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5029200"/>
            <a:ext cx="4114800" cy="96012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5346A0"/>
                </a:solidFill>
                <a:latin typeface="Inter"/>
                <a:ea typeface="Inter"/>
                <a:cs typeface="Inter"/>
              </a:rPr>
              <a:t>9a + 7a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3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346A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ერთმანეთს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ჰგავს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14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70432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3703320" cy="640080"/>
          </a:xfrm>
          <a:prstGeom prst="rect">
            <a:avLst/>
          </a:prstGeom>
          <a:solidFill>
            <a:srgbClr val="53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70432"/>
            <a:ext cx="37033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გამოსახულება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34290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33375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მოქმედება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წერია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ტოლობის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ნიშანი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აქვს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4805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346A0"/>
                </a:solidFill>
                <a:latin typeface="Noto Sans Georgian"/>
                <a:ea typeface="Noto Sans Georgian"/>
                <a:cs typeface="Noto Sans Georgian"/>
              </a:rPr>
              <a:t>კიდევ</a:t>
            </a:r>
            <a:r>
              <a:rPr sz="1200" b="1">
                <a:solidFill>
                  <a:srgbClr val="5346A0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1">
                <a:solidFill>
                  <a:srgbClr val="5346A0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315468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9a + 7a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70432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170432"/>
            <a:ext cx="3703320" cy="640080"/>
          </a:xfrm>
          <a:prstGeom prst="rect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1170432"/>
            <a:ext cx="37033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ტოლობა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65960"/>
            <a:ext cx="34290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8a = 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063240"/>
            <a:ext cx="33375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მხარე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ტოლია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წერია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ნიშანი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4805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572000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კიდევ</a:t>
            </a:r>
            <a:r>
              <a:rPr sz="1200" b="1">
                <a:solidFill>
                  <a:srgbClr val="0E7C6B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1">
                <a:solidFill>
                  <a:srgbClr val="0E7C6B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937760"/>
            <a:ext cx="315468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9a + 7a = 16a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170432"/>
            <a:ext cx="37033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170432"/>
            <a:ext cx="3703320" cy="64008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170432"/>
            <a:ext cx="37033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Georgian"/>
                <a:ea typeface="Noto Sans Georgian"/>
                <a:cs typeface="Noto Sans Georgian"/>
              </a:rPr>
              <a:t>უტოლობა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965960"/>
            <a:ext cx="342900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8a &gt;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063240"/>
            <a:ext cx="3337560" cy="12344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აქ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შედარებაა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ნიშანია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&gt;   </a:t>
            </a:r>
            <a:r>
              <a:rPr sz="15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ან</a:t>
            </a: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&lt;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4480560"/>
            <a:ext cx="3246120" cy="132588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4572000"/>
            <a:ext cx="306324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კიდევ</a:t>
            </a:r>
            <a:r>
              <a:rPr sz="1200" b="1">
                <a:solidFill>
                  <a:srgbClr val="E25B45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937760"/>
            <a:ext cx="3154680" cy="6858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16a &gt; 10a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ვარჯიში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რომელი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თვისებაა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15   /  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338560" cy="36576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დაასახელე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,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გადავამოწმებთ</a:t>
            </a:r>
            <a:r>
              <a:rPr sz="18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554480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1700784"/>
            <a:ext cx="548640" cy="548640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00784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554480"/>
            <a:ext cx="66751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6 · 5   =   5 ·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554480"/>
            <a:ext cx="34747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 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48716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" y="2633472"/>
            <a:ext cx="548640" cy="548640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633472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87168"/>
            <a:ext cx="66751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(3 · 4) · 5   =   3 · (4 · 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87168"/>
            <a:ext cx="34747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  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19856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6928" y="3566160"/>
            <a:ext cx="548640" cy="548640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66160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19856"/>
            <a:ext cx="66751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 · (9 + 4)   =   5 · 9 + 5 ·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419856"/>
            <a:ext cx="34747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 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352544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928" y="4498848"/>
            <a:ext cx="548640" cy="548640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498848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52544"/>
            <a:ext cx="66751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 · 1   =  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352544"/>
            <a:ext cx="34747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 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285232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6928" y="5431536"/>
            <a:ext cx="548640" cy="548640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431536"/>
            <a:ext cx="548640" cy="54864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85232"/>
            <a:ext cx="66751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9 · 0   =  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285232"/>
            <a:ext cx="3474720" cy="84124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 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ვარჯიში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რომელი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იყო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16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5486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170432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6 · 5  =  5 ·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170432"/>
            <a:ext cx="4114800" cy="914400"/>
          </a:xfrm>
          <a:prstGeom prst="rect">
            <a:avLst/>
          </a:prstGeom>
          <a:noFill/>
        </p:spPr>
        <p:txBody>
          <a:bodyPr wrap="square" lIns="109728" rIns="109728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7627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1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76272"/>
            <a:ext cx="5486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176272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(3 · 4) · 5  =  3 · (4 · 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76272"/>
            <a:ext cx="4114800" cy="914400"/>
          </a:xfrm>
          <a:prstGeom prst="rect">
            <a:avLst/>
          </a:prstGeom>
          <a:noFill/>
        </p:spPr>
        <p:txBody>
          <a:bodyPr wrap="square" lIns="109728" rIns="109728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8211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82112"/>
            <a:ext cx="5486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82112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 · (9 + 4)  =  5·9 + 5·4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182112"/>
            <a:ext cx="4114800" cy="914400"/>
          </a:xfrm>
          <a:prstGeom prst="rect">
            <a:avLst/>
          </a:prstGeom>
          <a:noFill/>
        </p:spPr>
        <p:txBody>
          <a:bodyPr wrap="square" lIns="109728" rIns="109728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8795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87952"/>
            <a:ext cx="5486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187952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 · 1  = 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87952"/>
            <a:ext cx="4114800" cy="914400"/>
          </a:xfrm>
          <a:prstGeom prst="rect">
            <a:avLst/>
          </a:prstGeom>
          <a:noFill/>
        </p:spPr>
        <p:txBody>
          <a:bodyPr wrap="square" lIns="109728" rIns="109728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ერთის</a:t>
            </a:r>
            <a:r>
              <a:rPr sz="2000" b="1">
                <a:solidFill>
                  <a:srgbClr val="C2412D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C2412D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193792"/>
            <a:ext cx="11338560" cy="91440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193792"/>
            <a:ext cx="5486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193792"/>
            <a:ext cx="60350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9 · 0  = 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5193792"/>
            <a:ext cx="4114800" cy="914400"/>
          </a:xfrm>
          <a:prstGeom prst="rect">
            <a:avLst/>
          </a:prstGeom>
          <a:noFill/>
        </p:spPr>
        <p:txBody>
          <a:bodyPr wrap="square" lIns="109728" rIns="109728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20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20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ვარჯიში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 57    ·   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ჯერ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მიზეზი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,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მერე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17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15568"/>
            <a:ext cx="114482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1316736"/>
            <a:ext cx="530352" cy="530352"/>
          </a:xfrm>
          <a:prstGeom prst="ellipse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16736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52144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a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ნებისმიერი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რიცხვია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,  0 · a 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72768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1) a      2) 2a      3) 0      4) 4a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39696"/>
            <a:ext cx="114482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340864"/>
            <a:ext cx="530352" cy="530352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40864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176272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27 + 27 + 27 + 27 + 27 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596896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1) 5·27      2) 5+27      3) 4·27      4) 3·27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63824"/>
            <a:ext cx="114482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364992"/>
            <a:ext cx="530352" cy="530352"/>
          </a:xfrm>
          <a:prstGeom prst="ellipse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64992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00400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a = 7, 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მაშინ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 8a 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21024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1) 55      2) 56      3) 57      4) 87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187952"/>
            <a:ext cx="114482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2920" y="4389120"/>
            <a:ext cx="530352" cy="530352"/>
          </a:xfrm>
          <a:prstGeom prst="ellipse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224528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a = 0, 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მაშინ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 11a  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645152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1) 2      2) 110      3) 0      4) 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212080"/>
            <a:ext cx="1144828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2920" y="5413248"/>
            <a:ext cx="530352" cy="530352"/>
          </a:xfrm>
          <a:prstGeom prst="ellipse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413248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248656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თუ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a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c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ნებისმიერი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რიცხვებია</a:t>
            </a:r>
            <a:r>
              <a:rPr sz="1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,  7(a + c)  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1) 7a      2) 7c      3) 7a + 7c      4) 7a + 7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3A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3A008"/>
                </a:solidFill>
                <a:latin typeface="Noto Sans Georgian"/>
                <a:ea typeface="Noto Sans Georgian"/>
                <a:cs typeface="Noto Sans Georgian"/>
              </a:rPr>
              <a:t>ვარჯიში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პასუხი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მიზეზი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18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11411712" cy="91440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70432"/>
            <a:ext cx="64008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70432"/>
            <a:ext cx="4206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0 · a  = 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170432"/>
            <a:ext cx="5852160" cy="914400"/>
          </a:xfrm>
          <a:prstGeom prst="rect">
            <a:avLst/>
          </a:prstGeom>
          <a:noFill/>
        </p:spPr>
        <p:txBody>
          <a:bodyPr wrap="square" lIns="137160" rIns="137160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18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176272"/>
            <a:ext cx="11411712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64008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6272"/>
            <a:ext cx="4206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5 ·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176272"/>
            <a:ext cx="5852160" cy="914400"/>
          </a:xfrm>
          <a:prstGeom prst="rect">
            <a:avLst/>
          </a:prstGeom>
          <a:noFill/>
        </p:spPr>
        <p:txBody>
          <a:bodyPr wrap="square" lIns="137160" rIns="137160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ხუთი</a:t>
            </a:r>
            <a:r>
              <a:rPr sz="18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ერთნაირი</a:t>
            </a:r>
            <a:r>
              <a:rPr sz="18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შესაკრები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182112"/>
            <a:ext cx="11411712" cy="91440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82112"/>
            <a:ext cx="64008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82112"/>
            <a:ext cx="4206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8a  =  56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182112"/>
            <a:ext cx="5852160" cy="914400"/>
          </a:xfrm>
          <a:prstGeom prst="rect">
            <a:avLst/>
          </a:prstGeom>
          <a:noFill/>
        </p:spPr>
        <p:txBody>
          <a:bodyPr wrap="square" lIns="137160" rIns="137160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a-</a:t>
            </a:r>
            <a:r>
              <a:rPr sz="18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ს</a:t>
            </a:r>
            <a:r>
              <a:rPr sz="18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ადგილას</a:t>
            </a:r>
            <a:r>
              <a:rPr sz="18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იწერება</a:t>
            </a:r>
            <a:r>
              <a:rPr sz="18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87952"/>
            <a:ext cx="11411712" cy="914400"/>
          </a:xfrm>
          <a:prstGeom prst="roundRect">
            <a:avLst>
              <a:gd name="adj" fmla="val 8000"/>
            </a:avLst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64008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87952"/>
            <a:ext cx="4206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11a  = 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187952"/>
            <a:ext cx="5852160" cy="914400"/>
          </a:xfrm>
          <a:prstGeom prst="rect">
            <a:avLst/>
          </a:prstGeom>
          <a:noFill/>
        </p:spPr>
        <p:txBody>
          <a:bodyPr wrap="square" lIns="137160" rIns="137160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ისევ</a:t>
            </a:r>
            <a:r>
              <a:rPr sz="18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18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8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: 11 ·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193792"/>
            <a:ext cx="11411712" cy="91440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93792"/>
            <a:ext cx="64008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193792"/>
            <a:ext cx="4206240" cy="91440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7a + 7c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193792"/>
            <a:ext cx="5852160" cy="914400"/>
          </a:xfrm>
          <a:prstGeom prst="rect">
            <a:avLst/>
          </a:prstGeom>
          <a:noFill/>
        </p:spPr>
        <p:txBody>
          <a:bodyPr wrap="square" lIns="137160" rIns="137160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B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44"/>
                </a:solidFill>
                <a:latin typeface="Noto Sans Georgian"/>
                <a:ea typeface="Noto Sans Georgian"/>
                <a:cs typeface="Noto Sans Georgian"/>
              </a:rPr>
              <a:t>შეჯამება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წინადადებაში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19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15568"/>
            <a:ext cx="1141171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" y="1408176"/>
            <a:ext cx="621792" cy="621792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08176"/>
            <a:ext cx="621792" cy="6217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170432"/>
            <a:ext cx="9966960" cy="6217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ადგილის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გაცვლა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ნამრავლს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92224"/>
            <a:ext cx="996696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ეს</a:t>
            </a:r>
            <a:r>
              <a:rPr sz="14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8A5A00"/>
                </a:solidFill>
                <a:latin typeface="Noto Sans Georgian"/>
                <a:ea typeface="Noto Sans Georgian"/>
                <a:cs typeface="Noto Sans Georgian"/>
              </a:rPr>
              <a:t>გადანაცვლებადობაა</a:t>
            </a:r>
            <a:r>
              <a:rPr sz="1400" b="1">
                <a:solidFill>
                  <a:srgbClr val="8A5A0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468880"/>
            <a:ext cx="1141171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8" y="2761488"/>
            <a:ext cx="621792" cy="621792"/>
          </a:xfrm>
          <a:prstGeom prst="ellipse">
            <a:avLst/>
          </a:prstGeom>
          <a:solidFill>
            <a:srgbClr val="274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761488"/>
            <a:ext cx="621792" cy="6217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23744"/>
            <a:ext cx="9966960" cy="6217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ერთზე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რიცხვს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ნულზე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გამრავლება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ნულს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იძლევა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145536"/>
            <a:ext cx="996696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ერთის</a:t>
            </a:r>
            <a:r>
              <a:rPr sz="14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4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და</a:t>
            </a:r>
            <a:r>
              <a:rPr sz="14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ნულის</a:t>
            </a:r>
            <a:r>
              <a:rPr sz="14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27486E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400" b="1">
                <a:solidFill>
                  <a:srgbClr val="27486E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22191"/>
            <a:ext cx="11411712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4114800"/>
            <a:ext cx="621792" cy="621792"/>
          </a:xfrm>
          <a:prstGeom prst="ellipse">
            <a:avLst/>
          </a:prstGeom>
          <a:solidFill>
            <a:srgbClr val="43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114800"/>
            <a:ext cx="621792" cy="6217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877055"/>
            <a:ext cx="9966960" cy="62179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8a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გამოსახულებაა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,  8a = 56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კი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ტოლობაა</a:t>
            </a:r>
            <a:r>
              <a:rPr sz="18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98848"/>
            <a:ext cx="9966960" cy="438912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ტოლობის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ნიშანი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ჰყოფს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ამ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4338A0"/>
                </a:solidFill>
                <a:latin typeface="Noto Sans Georgian"/>
                <a:ea typeface="Noto Sans Georgian"/>
                <a:cs typeface="Noto Sans Georgian"/>
              </a:rPr>
              <a:t>ორს</a:t>
            </a:r>
            <a:r>
              <a:rPr sz="1400" b="1">
                <a:solidFill>
                  <a:srgbClr val="4338A0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257800"/>
            <a:ext cx="11411712" cy="1051560"/>
          </a:xfrm>
          <a:prstGeom prst="roundRect">
            <a:avLst>
              <a:gd name="adj" fmla="val 8000"/>
            </a:avLst>
          </a:prstGeom>
          <a:solidFill>
            <a:srgbClr val="E4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57800"/>
            <a:ext cx="11155680" cy="10515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ჯუფდებადობა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— </a:t>
            </a: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ფრჩხილის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გადატანა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ნამრავლს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არ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</a:t>
            </a: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ცვლის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6558"/>
                </a:solidFill>
                <a:latin typeface="Noto Sans Georgian"/>
                <a:ea typeface="Noto Sans Georgian"/>
                <a:cs typeface="Noto Sans Georgian"/>
              </a:rPr>
              <a:t>განრიგებადობა</a:t>
            </a:r>
            <a:r>
              <a:rPr sz="1400" b="1">
                <a:solidFill>
                  <a:srgbClr val="0B6558"/>
                </a:solidFill>
                <a:latin typeface="Inter"/>
                <a:ea typeface="Inter"/>
                <a:cs typeface="Inter"/>
              </a:rPr>
              <a:t> — a(b + c) = ab + ac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5B45"/>
                </a:solidFill>
                <a:latin typeface="Noto Sans Georgian"/>
                <a:ea typeface="Noto Sans Georgian"/>
                <a:cs typeface="Noto Sans Georgian"/>
              </a:rPr>
              <a:t>საშინაო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"/>
            <a:ext cx="11338560" cy="56692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რვეულში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ორი</a:t>
            </a:r>
            <a:r>
              <a:rPr sz="30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30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დავალება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6473952"/>
            <a:ext cx="11411712" cy="13716"/>
          </a:xfrm>
          <a:prstGeom prst="rect">
            <a:avLst/>
          </a:prstGeom>
          <a:solidFill>
            <a:srgbClr val="E7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6510528"/>
            <a:ext cx="777240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გამრავლების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თვისებები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  ·   </a:t>
            </a:r>
            <a:r>
              <a:rPr sz="12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56–57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510528"/>
            <a:ext cx="2468880" cy="292608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20   /  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188720"/>
            <a:ext cx="1141171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1417320"/>
            <a:ext cx="640080" cy="640080"/>
          </a:xfrm>
          <a:prstGeom prst="ellipse">
            <a:avLst/>
          </a:prstGeom>
          <a:solidFill>
            <a:srgbClr val="E2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17320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37160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გვ</a:t>
            </a: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. 57,   №1 – №5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9875520" cy="91440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რვეულში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ჩაწერე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კლასში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ნანახიც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მოკლედ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გადაიტანე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პასუხთან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მიზეზიც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მიუწერე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რომელი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თვისება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გამოიყენე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520440"/>
            <a:ext cx="11411712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7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749039"/>
            <a:ext cx="640080" cy="640080"/>
          </a:xfrm>
          <a:prstGeom prst="ellipse">
            <a:avLst/>
          </a:prstGeom>
          <a:solidFill>
            <a:srgbClr val="0E7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39"/>
            <a:ext cx="640080" cy="64008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703320"/>
            <a:ext cx="9875520" cy="594360"/>
          </a:xfrm>
          <a:prstGeom prst="rect">
            <a:avLst/>
          </a:prstGeom>
          <a:noFill/>
        </p:spPr>
        <p:txBody>
          <a:bodyPr wrap="square" lIns="36576" rIns="36576" tIns="18288" bIns="18288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ასო</a:t>
            </a: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a-</a:t>
            </a:r>
            <a:r>
              <a:rPr sz="2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თი</a:t>
            </a: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სამი</a:t>
            </a:r>
            <a:r>
              <a:rPr sz="2600" b="1">
                <a:solidFill>
                  <a:srgbClr val="1B2430"/>
                </a:solidFill>
                <a:latin typeface="Inter"/>
                <a:ea typeface="Inter"/>
                <a:cs typeface="Inter"/>
              </a:rPr>
              <a:t> </a:t>
            </a:r>
            <a:r>
              <a:rPr sz="2600" b="1">
                <a:solidFill>
                  <a:srgbClr val="1B2430"/>
                </a:solidFill>
                <a:latin typeface="Noto Sans Georgian"/>
                <a:ea typeface="Noto Sans Georgian"/>
                <a:cs typeface="Noto Sans Georgian"/>
              </a:rPr>
              <a:t>ჩანაწერი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89120"/>
            <a:ext cx="9875520" cy="1005840"/>
          </a:xfrm>
          <a:prstGeom prst="rect">
            <a:avLst/>
          </a:prstGeom>
          <a:noFill/>
        </p:spPr>
        <p:txBody>
          <a:bodyPr wrap="square" lIns="36576" rIns="36576" tIns="18288" bIns="18288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გამოსახულება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ტოლობა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,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ერთი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 </a:t>
            </a: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უტოლობა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C6B7A"/>
                </a:solidFill>
                <a:latin typeface="Noto Sans Georgian"/>
                <a:ea typeface="Noto Sans Georgian"/>
                <a:cs typeface="Noto Sans Georgian"/>
              </a:rPr>
              <a:t>მაგალითად</a:t>
            </a:r>
            <a:r>
              <a:rPr sz="1600" b="0">
                <a:solidFill>
                  <a:srgbClr val="5C6B7A"/>
                </a:solidFill>
                <a:latin typeface="Inter"/>
                <a:ea typeface="Inter"/>
                <a:cs typeface="Inter"/>
              </a:rPr>
              <a:t>:   8a,     8a = 56,     8a &gt;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ნატურალური რიცხვების გამრავლება. გამრავლების თვისებები</dc:title>
  <dc:subject>მათემატიკა, V კლასი, გვ. 56–57</dc:subject>
  <dc:creator>ბექა თევდორაშვილი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ka-GE</dc:language>
</cp:coreProperties>
</file>